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299"/>
                </a:solidFill>
              </a:defRPr>
            </a:pPr>
            <a:r>
              <a:t>Euro Area Bond Yield Spillovers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A Diebold-Yilmaz Analysis of Cross-Market Transmission</a:t>
            </a:r>
            <a:br/>
            <a:br/>
            <a:r>
              <a:t>January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299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METHODOLOGY: Generalized FEVD spillovers (order-invariant) using VAR(4) on daily yield changes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SAMPLE: 7 countries (US, JP, UK, DE, FR, IT, ES), 1995-2025, 200-day rolling windows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KEY FINDING: Within-EA spillovers (~14%) consistently exceed external spillovers (~8%)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SURPRISE #1: France has overtaken Germany as the dominant EA transmitter since 2015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SURPRISE #2: Spain is the most vulnerable market - largest net receiver in the system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SURPRISE #3: Japan became MORE isolated after normalizing yields (YCC exit paradox)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CURRENT STATE: Spillover intensity at 30-year highs during the tightening cycle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Methodology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299"/>
                </a:solidFill>
              </a:defRPr>
            </a:pPr>
            <a:r>
              <a:t>Diebold-Yilmaz Spillover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THE MODEL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VAR(4) estimated on daily yield changes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200-day rolling windows (~10 months)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10-day forecast horizon for FEVD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WHY GENERALIZED FEVD?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Order-invariant (no arbitrary ordering)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Based on Pesaran &amp; Shin (1998)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Uses historical error correlations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Rows normalized to sum to 100%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1887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SPILLOVER MEASURES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Total spillover: % variance from others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Directional TO: how much i affects others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Directional FROM: how much i is affected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Net: TO minus FROM (+ = transmitter)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Bilateral: i to j pairwise flows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INTERPRETATION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High spillover = tight market integration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Net transmitter = 'price setter'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Net receiver = 'price taker'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Key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299"/>
                </a:solidFill>
              </a:defRPr>
            </a:pPr>
            <a:r>
              <a:t>Total Spillover Index: 30 Years of Market Integration</a:t>
            </a:r>
          </a:p>
        </p:txBody>
      </p:sp>
      <p:pic>
        <p:nvPicPr>
          <p:cNvPr id="3" name="Picture 2" descr="fig01_total_spill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6464"/>
                </a:solidFill>
              </a:defRPr>
            </a:pPr>
            <a:r>
              <a:t>Note: Total spillover = % of yield variance explained by shocks from other countries. Higher = more integrated.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299"/>
                </a:solidFill>
              </a:defRPr>
            </a:pPr>
            <a:r>
              <a:t>Who Transmits, Who Receives?</a:t>
            </a:r>
          </a:p>
        </p:txBody>
      </p:sp>
      <p:pic>
        <p:nvPicPr>
          <p:cNvPr id="3" name="Picture 2" descr="fig02_net_spillo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6464"/>
                </a:solidFill>
              </a:defRPr>
            </a:pPr>
            <a:r>
              <a:t>Positive = net transmitter (price setter), Negative = net receiver (price taker). France and Germany dominate transmission.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299"/>
                </a:solidFill>
              </a:defRPr>
            </a:pPr>
            <a:r>
              <a:t>External vs Internal: Where Do EA Shocks Come From?</a:t>
            </a:r>
          </a:p>
        </p:txBody>
      </p:sp>
      <p:pic>
        <p:nvPicPr>
          <p:cNvPr id="3" name="Picture 2" descr="fig03_external_vs_inter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6464"/>
                </a:solidFill>
              </a:defRPr>
            </a:pPr>
            <a:r>
              <a:t>Within-EA spillovers consistently exceed external (US+JP+UK) spillovers by 40-90%.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299"/>
                </a:solidFill>
              </a:defRPr>
            </a:pPr>
            <a:r>
              <a:t>Finding #1: France as the 'Hidden Anchor'</a:t>
            </a:r>
          </a:p>
        </p:txBody>
      </p:sp>
      <p:pic>
        <p:nvPicPr>
          <p:cNvPr id="3" name="Picture 2" descr="fig06_regim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188720"/>
            <a:ext cx="6217920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118872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France has overtaken Germany as the largest net transmitter since 2015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Average FR_net = +22.6 vs DE_net = +21.5 over full sample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During COVID/PEPP: FR_net = +37.6 vs DE_net = +26.2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France transmits ~17-22% to each EA country, receives ~13-15%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Interpretation: OAT market is the 'swing' market bridging core and periphery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The 2024 political turmoil tested this anchor role...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Case Study: French Political Turmoil 2024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299"/>
                </a:solidFill>
              </a:defRPr>
            </a:pPr>
            <a:r>
              <a:t>French Political Crisis: Timeline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KEY EVENTS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June 9, 2024: Macron calls snap elections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June 30: First round - RN leads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July 7: Second round - Left bloc wins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Sept 5: Barnier appointed PM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Dec 4: Barnier government falls (no confidence)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FR-DE SPREAD EVOLUTION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Pre-crisis (Jan-Jun 9): 49.5 bp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Election period: 70.3 bp (+42%)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Post-election: 72.5 bp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Barnier fall: 77.7 bp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Peak: 87 bp (Dec 2, 2024)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1887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SPILLOVER DYNAMICS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France REMAINED a net transmitter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Pre-crisis FR_net: +35.9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During elections: +32.2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Post-election: +28.7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CONTAGION TO PERIPHERY?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FR→IT spillover: 21.9% → 22.1% (stable)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FR→ES spillover: 19.4% → 18.5% (stable)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KEY INSIGHT: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Despite 87bp spread blow-out, France did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NOT become a shock receiver. ECB credibility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(TPI backstop) contained contagion.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Case Study: Japanese Yield Steepening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299"/>
                </a:solidFill>
              </a:defRPr>
            </a:pPr>
            <a:r>
              <a:t>Japan: The Yield Curve Normalization Paradox</a:t>
            </a:r>
          </a:p>
        </p:txBody>
      </p:sp>
      <p:pic>
        <p:nvPicPr>
          <p:cNvPr id="3" name="Picture 2" descr="fig04_external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188720"/>
            <a:ext cx="6217920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118872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YCC tight (2020-2022): JP 10Y averaged 0.10%, max 0.45%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YCC widened (Dec 2022-Mar 2024): JP 10Y averaged 0.57%, max 0.97%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Post-NIRP exit (Mar 2024+): JP 10Y averaged 1.25%, max 1.98%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PARADOX: Higher JP yields = LESS spillover to EA, not more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JP→EA spillover fell from 3.7% (YCC) to 1.2% (post-NIRP)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Japan became MORE isolated as yields normalized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Interpretation: YCC forced JP yields to track global moves; freed, they decoupled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299"/>
                </a:solidFill>
              </a:defRPr>
            </a:pPr>
            <a:r>
              <a:t>Japan: From Follower to Island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YIELD TRANSFORMATION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YCC tight (2020-22): 0.10% average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Dec 2022: BoJ widens YCC band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Mar 2024: BoJ ends NIRP + YCC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Current: ~1.0-1.2%, 30Y at ~2.4%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This is the first real Japanese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yield steepening in 30 years.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Global investors are watching: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Will JP re-engage with global rates?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1887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SPILLOVER PARADOX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JP→EA spillover: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YCC tight: 3.68%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YCC widened: 1.14%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Post-NIRP: 1.17%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JP net position: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YCC tight: -21.3 (moderate receiver)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Post-NIRP: -36.9 (very isolated)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Japanese bonds now move independently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of global factors - a structural shift.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Core-Periphery Dynamics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299"/>
                </a:solidFill>
              </a:defRPr>
            </a:pPr>
            <a:r>
              <a:t>Core-Periphery: The Persistent Asymmetry</a:t>
            </a:r>
          </a:p>
        </p:txBody>
      </p:sp>
      <p:pic>
        <p:nvPicPr>
          <p:cNvPr id="3" name="Picture 2" descr="fig05_fragm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6464"/>
                </a:solidFill>
              </a:defRPr>
            </a:pPr>
            <a:r>
              <a:t>Periphery (IT+ES) is ALWAYS a net receiver from Core (DE+FR). Gap narrowed only during 2010-12 when all links weakened.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299"/>
                </a:solidFill>
              </a:defRPr>
            </a:pPr>
            <a:r>
              <a:t>Spain: The Most Vulnerable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Spain is the largest net receiver in the 7-country system (ES_net = -39.0)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During tightening cycle (2022-25): ES receives 83.5% of variance from others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Spain receives more spillovers than Italy (ES_from = 67.3% vs IT_from = 60.6%)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ES-DE spread dynamics are more reactive than IT-DE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Implication: Spanish yields are 'price takers' in the EA system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But this doesn't mean Spain is fragile - just highly integrated with EA dynamics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Risk Regimes &amp; Global Factors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299"/>
                </a:solidFill>
              </a:defRPr>
            </a:pPr>
            <a:r>
              <a:t>Spillovers and Risk: The VIX Connection</a:t>
            </a:r>
          </a:p>
        </p:txBody>
      </p:sp>
      <p:pic>
        <p:nvPicPr>
          <p:cNvPr id="3" name="Picture 2" descr="fig07_vix_relations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6464"/>
                </a:solidFill>
              </a:defRPr>
            </a:pPr>
            <a:r>
              <a:t>Weak overall correlation (r=0.14), but HIGH VIX regimes (&gt;25) have 3% higher spillovers. Relationship is regime-dependent.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299"/>
                </a:solidFill>
              </a:defRPr>
            </a:pPr>
            <a:r>
              <a:t>Who Affects Whom: Bilateral Spillover Matrices</a:t>
            </a:r>
          </a:p>
        </p:txBody>
      </p:sp>
      <p:pic>
        <p:nvPicPr>
          <p:cNvPr id="3" name="Picture 2" descr="fig08_bilateral_heat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6464"/>
                </a:solidFill>
              </a:defRPr>
            </a:pPr>
            <a:r>
              <a:t>Rows = receivers, Columns = transmitters. Note IT-ES contagion during Euro Crisis, uniformity during Tightening.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299"/>
                </a:solidFill>
              </a:defRPr>
            </a:pPr>
            <a:r>
              <a:t>Summary Dashboard</a:t>
            </a:r>
          </a:p>
        </p:txBody>
      </p:sp>
      <p:pic>
        <p:nvPicPr>
          <p:cNvPr id="3" name="Picture 2" descr="fig09_summary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6464"/>
                </a:solidFill>
              </a:defRPr>
            </a:pPr>
            <a:r>
              <a:t>Four-panel view: Total spillover, Net transmitters, External vs Internal, Core-Periphery dynamics.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Implications &amp; Conclusions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299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FOR INVESTORS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EA yields driven more by internal than external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Watch France - it's the swing market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Spain is most sensitive to EA-wide shocks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Japan is now largely disconnected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US influence peaks during Fed pivots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FOR POLICYMAKERS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ECB credibility (TPI) contained French contagion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Periphery remains structurally vulnerable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Integration paradoxically FALLS during crises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1887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REGIME PATTERNS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Pre-2010: 65-70% spillover, high integration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2010-12: 50-55%, fragmentation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2015-19: 53-57%, QE suppression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2020-21: 60%, COVID spike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2022+: 68-70%, highest on record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STRUCTURAL FINDINGS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France &gt; Germany as transmitter (since 2015)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Core→Periphery &gt; Periphery→Core (always)</a:t>
            </a:r>
          </a:p>
          <a:p>
            <a:pPr>
              <a:spcAft>
                <a:spcPts val="800"/>
              </a:spcAft>
              <a:defRPr sz="1600">
                <a:solidFill>
                  <a:srgbClr val="646464"/>
                </a:solidFill>
              </a:defRPr>
            </a:pPr>
            <a:r>
              <a:t>• External ~55% of internal spillovers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299"/>
                </a:solidFill>
              </a:defRPr>
            </a:pPr>
            <a:r>
              <a:t>Questions for Further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Will France remain the anchor despite political fragmentation?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How will Japanese normalization affect global bond correlations over time?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Does TPI fundamentally change spillover dynamics during future stress?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What happens to spillovers when ECB cuts more aggressively?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Is Spain's vulnerability structural or cyclical?</a:t>
            </a:r>
          </a:p>
          <a:p>
            <a:pPr>
              <a:spcAft>
                <a:spcPts val="1200"/>
              </a:spcAft>
              <a:defRPr sz="1800">
                <a:solidFill>
                  <a:srgbClr val="646464"/>
                </a:solidFill>
              </a:defRPr>
            </a:pPr>
            <a:r>
              <a:t>• Should we expand to 30-year yields, credit spreads, and more EA countries?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299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Data and analysis available in the repository</a:t>
            </a:r>
            <a:br/>
            <a:br/>
            <a:r>
              <a:t>Methodology: Diebold-Yilmaz (2012) Generalized FEVD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