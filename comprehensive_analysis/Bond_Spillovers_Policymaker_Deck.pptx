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299"/>
                </a:solidFill>
              </a:defRPr>
            </a:pPr>
            <a:r>
              <a:t>Euro Area Bond Yield Spillovers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05050"/>
                </a:solidFill>
              </a:defRPr>
            </a:pPr>
            <a:r>
              <a:t>From Convergence to Fragmentation and Back:</a:t>
            </a:r>
            <a:br/>
            <a:r>
              <a:t>Lessons from 30 Years of Market Integration</a:t>
            </a:r>
            <a:br/>
            <a:br/>
            <a:r>
              <a:t>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99"/>
                </a:solidFill>
              </a:defRPr>
            </a:pPr>
            <a:r>
              <a:t>The Story 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1995: IT-DE spread = 446bp, ES-DE = 384bp (pre-EMU divergence)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1999: IT-DE spread = 17bp, ES-DE = 13bp (EMU convergence complete)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2011: IT-DE spread = 553bp, ES-DE = 626bp (crisis fragmentation)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2012: Draghi "whatever it takes" → spreads compressed to 150bp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2024: FR-DE spread hits 87bp (French political crisis)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Today: Spillover intensity at 30-year highs (68-70%)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Historical Arc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99"/>
                </a:solidFill>
              </a:defRPr>
            </a:pPr>
            <a:r>
              <a:t>30 Years of Convergence and Fragmentation</a:t>
            </a:r>
          </a:p>
        </p:txBody>
      </p:sp>
      <p:pic>
        <p:nvPicPr>
          <p:cNvPr id="3" name="Picture 2" descr="fig10_convergence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Pre-EMU convergence (1995-98) → EMU harmony (1999-07) → Crisis fragmentation (2010-12) → QE compression → Current tightening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99"/>
                </a:solidFill>
              </a:defRPr>
            </a:pPr>
            <a:r>
              <a:t>Market Integration: The Spillover Index</a:t>
            </a:r>
          </a:p>
        </p:txBody>
      </p:sp>
      <p:pic>
        <p:nvPicPr>
          <p:cNvPr id="3" name="Picture 2" descr="fig01_total_spill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Higher spillover = tighter integration. Note: Integration FALLS during crises (2010-12) and RISES during tightening (2022+)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Five Key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16"/>
                </a:solidFill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France is the Hidden Anchor</a:t>
            </a:r>
          </a:p>
        </p:txBody>
      </p:sp>
      <p:pic>
        <p:nvPicPr>
          <p:cNvPr id="4" name="Picture 3" descr="fig02_net_spill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France has overtaken Germany as the largest net transmitter since 2015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FR_net = +22.6 vs DE_net = +21.5 (full sample average)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The OAT market is the 'swing' market bridging core and periphery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Despite 2024 political turmoil, France REMAINED a net transmitter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FR-DE spread hit 87bp but contagion to periphery was contained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Implication: ECB credibility (TPI) provides effective backstop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16"/>
                </a:solidFill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Spain is the Most Vulnerable Market</a:t>
            </a:r>
          </a:p>
        </p:txBody>
      </p:sp>
      <p:pic>
        <p:nvPicPr>
          <p:cNvPr id="4" name="Picture 3" descr="fig06_reg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Spain is the largest net receiver in the 7-country system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ES_net = -39.0 (receives far more spillovers than it transmits)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During tightening (2022+): Spain receives 83.5% of variance from others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More vulnerable than Italy (ES_from = 67% vs IT_from = 61%)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Spanish yields are 'price takers' - driven by EA-wide shocks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Policy implication: Spanish fiscal credibility matters less for EA dynamics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16"/>
                </a:solidFill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EA Dynamics are Mostly Internal</a:t>
            </a:r>
          </a:p>
        </p:txBody>
      </p:sp>
      <p:pic>
        <p:nvPicPr>
          <p:cNvPr id="4" name="Picture 3" descr="fig03_external_vs_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Within-EA spillovers (~14%) consistently exceed external (~8%)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Ratio: Internal ≈ 1.7x External on average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US influence peaks during Fed pivots (15% during 2022-23 hiking)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But even at peak, US &lt; intra-EA transmission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UK influence declined post-Brexit (-12%)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Implication: ECB policy is the primary driver of EA yield dynamics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16"/>
                </a:solidFill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Japan: The Decoupling Paradox</a:t>
            </a:r>
          </a:p>
        </p:txBody>
      </p:sp>
      <p:pic>
        <p:nvPicPr>
          <p:cNvPr id="4" name="Picture 3" descr="fig04_external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Japanese yields: 0.10% (YCC) → 1.25% (post-NIRP exit)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First real yield steepening in 30 years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PARADOX: Higher yields = LESS spillover to EA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JP→EA fell from 3.7% (YCC era) to 1.2% (post-NIRP)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Interpretation: YCC forced JP to track global rates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Freed from YCC, Japanese bonds now move independently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16"/>
                </a:solidFill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The Integration Paradox</a:t>
            </a:r>
          </a:p>
        </p:txBody>
      </p:sp>
      <p:pic>
        <p:nvPicPr>
          <p:cNvPr id="4" name="Picture 3" descr="fig09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Spillovers are LOWEST during crises: 50-54% (2010-12)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Spillovers are HIGHEST during tightening: 68-70% (2022+)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Markets fragment when stress is idiosyncratic (sovereign risk)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Markets integrate when facing common shocks (global rates)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Current high spillovers reflect synchronized tightening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Implication: Crisis management requires different tools than normal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Risk Assessment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99"/>
                </a:solidFill>
              </a:defRPr>
            </a:pPr>
            <a:r>
              <a:t>French Political Risk: Contained but Elevated</a:t>
            </a:r>
          </a:p>
        </p:txBody>
      </p:sp>
      <p:pic>
        <p:nvPicPr>
          <p:cNvPr id="3" name="Picture 2" descr="fig05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58368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FR-DE spread widened from 50bp to 87bp during 2024 turmoil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Peak spread on Dec 2, 2024 after Barnier government fell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France remained a net transmitter throughout (FR_net: +36 → +29)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Contagion to periphery was LIMITED: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FR→IT spillover: stable at 21-22%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FR→ES spillover: stable at 18-19%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Key insight: ECB/TPI credibility contained widening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But: Elevated spreads suggest fragility remains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99"/>
                </a:solidFill>
              </a:defRPr>
            </a:pPr>
            <a:r>
              <a:t>Who Affects Whom: The Bilateral Picture</a:t>
            </a:r>
          </a:p>
        </p:txBody>
      </p:sp>
      <p:pic>
        <p:nvPicPr>
          <p:cNvPr id="3" name="Picture 2" descr="fig08_bilateral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 regime shifts: IT-ES contagion in Euro Crisis (25%), uniform flows in Tightening (15-23%)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Policy Implications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99"/>
                </a:solidFill>
              </a:defRPr>
            </a:pPr>
            <a:r>
              <a:t>Implications for Policymakers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MONETARY POLICY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EA yields driven more by internal than external factors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ECB is the primary driver of EA-wide yield dynamics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TPI appears effective in containing contagion (French test case)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FISCAL COORDINATION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Periphery remains structurally vulnerable (price takers)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Spain most sensitive to EA-wide shocks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French fiscal credibility now a systemic concern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CRISIS PREPAREDNESS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Integration falls during idiosyncratic crises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Current high spillovers = vulnerability to common shocks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  - Japan decoupling reduces one external risk channel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99"/>
                </a:solidFill>
              </a:defRPr>
            </a:pPr>
            <a:r>
              <a:t>Open Questions for 2025 and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Will France remain the anchor despite political fragmentation?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How will ECB rate cuts affect the spillover structure?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Is Spain's vulnerability structural or cyclical?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Will Japanese normalization eventually re-engage global correlations?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What happens when the next idiosyncratic shock hits?</a:t>
            </a:r>
          </a:p>
          <a:p>
            <a:pPr>
              <a:spcAft>
                <a:spcPts val="1000"/>
              </a:spcAft>
              <a:defRPr sz="1600">
                <a:solidFill>
                  <a:srgbClr val="505050"/>
                </a:solidFill>
              </a:defRPr>
            </a:pPr>
            <a:r>
              <a:t>• Is TPI enough, or does the EA need deeper fiscal integration?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299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05050"/>
                </a:solidFill>
              </a:defRPr>
            </a:pPr>
            <a:r>
              <a:t>Methodology: Diebold-Yilmaz Generalized FEVD (order-invariant)</a:t>
            </a:r>
            <a:br/>
            <a:br/>
            <a:r>
              <a:t>Data: Daily 10Y yields, 1995-2025</a:t>
            </a:r>
            <a:br/>
            <a:r>
              <a:t>Countries: US, JP, UK, DE, FR, IT, 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