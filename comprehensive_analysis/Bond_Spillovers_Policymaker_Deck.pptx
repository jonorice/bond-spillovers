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The Historical Arc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299"/>
                </a:solidFill>
              </a:defRPr>
            </a:pPr>
            <a:r>
              <a:t>30 Years of Convergence and Fragmentation</a:t>
            </a:r>
          </a:p>
        </p:txBody>
      </p:sp>
      <p:pic>
        <p:nvPicPr>
          <p:cNvPr id="3" name="Picture 2" descr="fig10_convergence_fra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11612880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505050"/>
                </a:solidFill>
              </a:defRPr>
            </a:pPr>
            <a:r>
              <a:t>Pre-EMU convergence (1995-98) → EMU harmony (1999-07) → Crisis fragmentation (2010-12) → QE compression → Current tightening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299"/>
                </a:solidFill>
              </a:defRPr>
            </a:pPr>
            <a:r>
              <a:t>Market Integration: The Spillover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505050"/>
                </a:solidFill>
              </a:defRPr>
            </a:pPr>
            <a:r>
              <a:t>Higher spillover = tighter integration. Note: Integration FALLS during crises (2010-12) and RISES during tightening (2022+)</a:t>
            </a:r>
          </a:p>
        </p:txBody>
      </p:sp>
      <p:pic>
        <p:nvPicPr>
          <p:cNvPr id="5" name="Picture 4" descr="fig01_total_spillove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686800" cy="375149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Four Key Findings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7816"/>
                </a:solidFill>
              </a:defRPr>
            </a:pPr>
            <a:r>
              <a:t>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299"/>
                </a:solidFill>
              </a:defRPr>
            </a:pPr>
            <a:r>
              <a:rPr sz="1600">
                <a:solidFill>
                  <a:srgbClr val="003264"/>
                </a:solidFill>
              </a:rPr>
              <a:t>• France has overtaken Germany as the largest net transmitter since 2015</a:t>
            </a:r>
          </a:p>
          <a:p>
            <a:r>
              <a:rPr sz="1600">
                <a:solidFill>
                  <a:srgbClr val="003264"/>
                </a:solidFill>
              </a:rPr>
              <a:t>• The French OAT acts as a 'pivot' between core and periphery:</a:t>
            </a:r>
          </a:p>
          <a:p>
            <a:r>
              <a:rPr sz="1600">
                <a:solidFill>
                  <a:srgbClr val="003264"/>
                </a:solidFill>
              </a:rPr>
              <a:t>•    → Transmits shocks TO Germany: ~22% of German yield variance</a:t>
            </a:r>
          </a:p>
          <a:p>
            <a:r>
              <a:rPr sz="1600">
                <a:solidFill>
                  <a:srgbClr val="003264"/>
                </a:solidFill>
              </a:rPr>
              <a:t>•    → Transmits shocks TO periphery (Italy, Spain): key spillover channel</a:t>
            </a:r>
          </a:p>
          <a:p>
            <a:r>
              <a:rPr sz="1600">
                <a:solidFill>
                  <a:srgbClr val="003264"/>
                </a:solidFill>
              </a:rPr>
              <a:t>• During 2024 political turmoil, France REMAINED a net transmitter</a:t>
            </a:r>
          </a:p>
          <a:p>
            <a:r>
              <a:rPr sz="1600">
                <a:solidFill>
                  <a:srgbClr val="003264"/>
                </a:solidFill>
              </a:rPr>
              <a:t>• Policy implication: French fiscal stress propagates both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France has overtaken Germany as the largest net transmitter since 2015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What does 'pivot' mean? France transmits shocks in BOTH directions: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  → To Germany (core): ~22% of German yield variance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  → To Italy/Spain (periphery): ~18% of their variance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This makes France the key link in the Euro Area yield system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When France moves, BOTH core and periphery follow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2024 political crisis: FR-DE spread hit 87bp, but France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remained a net transmitter (average +29, always positive)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Key insight: ECB credibility contained contagion to periphery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822960"/>
            <a:ext cx="4572000" cy="3255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7816"/>
                </a:solidFill>
              </a:defRPr>
            </a:pPr>
            <a:r>
              <a:t>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299"/>
                </a:solidFill>
              </a:defRPr>
            </a:pPr>
            <a:r>
              <a:t>Spain is the Most Vulnerable Market</a:t>
            </a:r>
          </a:p>
        </p:txBody>
      </p:sp>
      <p:pic>
        <p:nvPicPr>
          <p:cNvPr id="4" name="Picture 3" descr="fig06_regim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097280"/>
            <a:ext cx="658368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Spain is the largest net receiver in the 7-country system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Net spillover position = -39 (receives far more than it transmits)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During tightening (2022+): Spain receives 83% of variance from others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More vulnerable than Italy (ES receives 67% vs IT receives 61%)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Spanish yields are 'price takers' - driven by EA-wide shocks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Policy implication: Spanish yields tell you about EA conditions,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but Spanish fiscal policy has limited impact on EA dynamics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7816"/>
                </a:solidFill>
              </a:defRPr>
            </a:pPr>
            <a:r>
              <a:t>#3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299"/>
                </a:solidFill>
              </a:defRPr>
            </a:pPr>
            <a:r>
              <a:t>Euro Area Dynamics are Mostly Internal</a:t>
            </a:r>
          </a:p>
        </p:txBody>
      </p:sp>
      <p:pic>
        <p:nvPicPr>
          <p:cNvPr id="4" name="Picture 3" descr="fig03_external_vs_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097280"/>
            <a:ext cx="658368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Within-EA spillovers (~14%) consistently exceed external (~8%)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Ratio: Internal ≈ 1.7x External on average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US influence peaks during Fed pivots (15% during 2022-23 hiking)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But even at peak, US influence &lt; intra-EA transmission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UK influence declined post-Brexit (-12%)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Implication: ECB policy is the primary driver of EA yield dynamics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External shocks matter, but the EA is largely self-referential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7816"/>
                </a:solidFill>
              </a:defRPr>
            </a:pPr>
            <a:r>
              <a:t>#4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299"/>
                </a:solidFill>
              </a:defRPr>
            </a:pPr>
            <a:r>
              <a:t>Japan: The Decoupling After Yield Curve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Background: Bank of Japan's Yield Curve Control (2016-2024)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  - Capped 10-year yields near 0% for 8 years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  - Ended negative interest rates in March 2024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Japanese yields: 0.10% (during controls) → 1.25% (after exit)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First real Japanese yield steepening in 30 years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PARADOX: Higher Japanese yields = LESS spillover to EA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Japan→EA spillover fell from 3.7% to 1.2% after policy exit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Interpretation: Yield controls forced Japan to track global rates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Once freed, Japanese bonds now move independently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For EA policymakers: One less external transmission channel</a:t>
            </a:r>
          </a:p>
        </p:txBody>
      </p:sp>
      <p:pic>
        <p:nvPicPr>
          <p:cNvPr id="6" name="Picture 5" descr="fig12_japan_stack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640080"/>
            <a:ext cx="4578029" cy="6126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Current Risk Assessment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3299"/>
                </a:solidFill>
              </a:defRPr>
            </a:pPr>
            <a:r>
              <a:t>French Political Risk: Contained but Elevated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4754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FR-DE spread widened from 50bp to 87bp during 2024 turmoil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Peak spread on December 2, 2024 after Barnier government fell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Critical finding: France REMAINED a net transmitter throughout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Pre-crisis average: +36 (strong transmitter)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Post-crisis average: +29 (still positive)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Contagion to periphery was LIMITED: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France→Italy spillover: stable at 21-22%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France→Spain spillover: stable at 18-19%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ECB's Transmission Protection Instrument appears credible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But: Elevated spreads suggest underlying fragility remains</a:t>
            </a:r>
          </a:p>
        </p:txBody>
      </p:sp>
      <p:pic>
        <p:nvPicPr>
          <p:cNvPr id="5" name="Picture 4" descr="fig13_fr_de_spread_2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4572000" cy="28570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299"/>
                </a:solidFill>
              </a:defRPr>
            </a:pPr>
            <a:r>
              <a:t>Who Affects Whom: The Bilateral Picture</a:t>
            </a:r>
          </a:p>
        </p:txBody>
      </p:sp>
      <p:pic>
        <p:nvPicPr>
          <p:cNvPr id="3" name="Picture 2" descr="fig08_bilateral_heat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11612880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505050"/>
                </a:solidFill>
              </a:defRPr>
            </a:pPr>
            <a:r>
              <a:t>Note regime shifts: IT-ES contagion in Euro Crisis (25%), uniform flows in Tightening (15-23%)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Policy Implications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3299"/>
                </a:solidFill>
              </a:defRPr>
            </a:pPr>
            <a:r>
              <a:t>Implications for Policymakers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MONETARY POLICY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EA yields driven more by internal than external factors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ECB is the primary driver of EA-wide yield dynamics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Transmission Protection Instrument appears effective (French test)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FISCAL COORDINATION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Periphery remains structurally vulnerable (price takers)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Spain most sensitive to EA-wide shocks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French fiscal credibility now a systemic concern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CRISIS PREPAREDNESS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Integration falls during idiosyncratic crises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Current high spillovers = vulnerability to common shocks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3299"/>
                </a:solidFill>
              </a:defRPr>
            </a:pPr>
            <a:r>
              <a:t>Open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Will France remain the pivot despite political fragmentation?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How will ECB rate cuts affect the spillover structure?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Is Spain's vulnerability structural or cyclical?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What happens when the next idiosyncratic shock hits?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Is the Transmission Protection Instrument enough, or does the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Euro Area need deeper fiscal integration?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299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505050"/>
                </a:solidFill>
              </a:defRPr>
            </a:pPr>
            <a:r>
              <a:t>Methodology: Diebold-Yilmaz Generalised Variance Decomposition</a:t>
            </a:r>
            <a:br/>
            <a:br/>
            <a:r>
              <a:t>Data: Daily 10-year yields, 1995-2025</a:t>
            </a:r>
            <a:br/>
            <a:r>
              <a:t>Countries: US, Japan, UK, Germany, France, Italy, Spain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