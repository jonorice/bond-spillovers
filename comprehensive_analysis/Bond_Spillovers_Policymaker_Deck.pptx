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0"/>
          </a:xfrm>
          <a:prstGeom prst="rect">
            <a:avLst/>
          </a:prstGeom>
          <a:solidFill>
            <a:srgbClr val="0032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011680"/>
            <a:ext cx="11277295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400" b="1">
                <a:solidFill>
                  <a:srgbClr val="003299"/>
                </a:solidFill>
              </a:defRPr>
            </a:pPr>
            <a:r>
              <a:t>Euro Area Bond Yield Spillovers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657600"/>
            <a:ext cx="11277295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200">
                <a:solidFill>
                  <a:srgbClr val="505050"/>
                </a:solidFill>
              </a:defRPr>
            </a:pPr>
            <a:r>
              <a:t>From Convergence to Fragmentation and Back:</a:t>
            </a:r>
            <a:br/>
            <a:r>
              <a:t>Lessons from 30 Years of Market Integration</a:t>
            </a:r>
            <a:br/>
            <a:br/>
            <a:r>
              <a:t>January 2025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74320"/>
            <a:ext cx="11430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003299"/>
                </a:solidFill>
              </a:defRPr>
            </a:pPr>
            <a:r>
              <a:t>The Story in Numbers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1097280"/>
            <a:ext cx="1143000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505050"/>
                </a:solidFill>
              </a:defRPr>
            </a:pPr>
            <a:r>
              <a:t>• 1995: IT-DE spread = 446bp, ES-DE = 384bp (pre-EMU divergence)</a:t>
            </a:r>
          </a:p>
          <a:p>
            <a:pPr>
              <a:spcAft>
                <a:spcPts val="1000"/>
              </a:spcAft>
              <a:defRPr sz="1600">
                <a:solidFill>
                  <a:srgbClr val="505050"/>
                </a:solidFill>
              </a:defRPr>
            </a:pPr>
            <a:r>
              <a:t>• 1999: IT-DE spread = 17bp, ES-DE = 13bp (EMU convergence complete)</a:t>
            </a:r>
          </a:p>
          <a:p>
            <a:pPr>
              <a:spcAft>
                <a:spcPts val="1000"/>
              </a:spcAft>
              <a:defRPr sz="1600">
                <a:solidFill>
                  <a:srgbClr val="505050"/>
                </a:solidFill>
              </a:defRPr>
            </a:pPr>
            <a:r>
              <a:t>• 2011: IT-DE spread = 553bp, ES-DE = 626bp (crisis fragmentation)</a:t>
            </a:r>
          </a:p>
          <a:p>
            <a:pPr>
              <a:spcAft>
                <a:spcPts val="1000"/>
              </a:spcAft>
              <a:defRPr sz="1600">
                <a:solidFill>
                  <a:srgbClr val="505050"/>
                </a:solidFill>
              </a:defRPr>
            </a:pPr>
            <a:r>
              <a:t>• 2012: Draghi "whatever it takes" → spreads compressed to 150bp</a:t>
            </a:r>
          </a:p>
          <a:p>
            <a:pPr>
              <a:spcAft>
                <a:spcPts val="1000"/>
              </a:spcAft>
              <a:defRPr sz="1600">
                <a:solidFill>
                  <a:srgbClr val="505050"/>
                </a:solidFill>
              </a:defRPr>
            </a:pPr>
            <a:r>
              <a:t>• 2024: FR-DE spread hits 87bp (French political crisis)</a:t>
            </a:r>
          </a:p>
          <a:p>
            <a:pPr>
              <a:spcAft>
                <a:spcPts val="1000"/>
              </a:spcAft>
              <a:defRPr sz="1600">
                <a:solidFill>
                  <a:srgbClr val="505050"/>
                </a:solidFill>
              </a:defRPr>
            </a:pPr>
            <a:r>
              <a:t>• Today: Spillover intensity at 30-year highs (68-70%)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32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0"/>
            <a:ext cx="1127729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7200" b="1">
                <a:solidFill>
                  <a:srgbClr val="FFFFFF"/>
                </a:solidFill>
              </a:defRPr>
            </a:pPr>
            <a:r>
              <a:t>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200400"/>
            <a:ext cx="11277295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</a:defRPr>
            </a:pPr>
            <a:r>
              <a:t>The Historical Arc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003299"/>
                </a:solidFill>
              </a:defRPr>
            </a:pPr>
            <a:r>
              <a:t>30 Years of Convergence and Fragmentation</a:t>
            </a:r>
          </a:p>
        </p:txBody>
      </p:sp>
      <p:pic>
        <p:nvPicPr>
          <p:cNvPr id="3" name="Picture 2" descr="fig10_convergence_fragment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868680"/>
            <a:ext cx="11612880" cy="53949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365760" y="6355080"/>
            <a:ext cx="11430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i="1">
                <a:solidFill>
                  <a:srgbClr val="505050"/>
                </a:solidFill>
              </a:defRPr>
            </a:pPr>
            <a:r>
              <a:t>Pre-EMU convergence (1995-98) → EMU harmony (1999-07) → Crisis fragmentation (2010-12) → QE compression → Current tightening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003299"/>
                </a:solidFill>
              </a:defRPr>
            </a:pPr>
            <a:r>
              <a:t>Market Integration: The Spillover Index</a:t>
            </a:r>
          </a:p>
        </p:txBody>
      </p:sp>
      <p:pic>
        <p:nvPicPr>
          <p:cNvPr id="3" name="Picture 2" descr="fig01_total_spillov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868680"/>
            <a:ext cx="11612880" cy="53949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365760" y="6355080"/>
            <a:ext cx="11430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i="1">
                <a:solidFill>
                  <a:srgbClr val="505050"/>
                </a:solidFill>
              </a:defRPr>
            </a:pPr>
            <a:r>
              <a:t>Higher spillover = tighter integration. Note: Integration FALLS during crises (2010-12) and RISES during tightening (2022+)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32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0"/>
            <a:ext cx="1127729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7200" b="1">
                <a:solidFill>
                  <a:srgbClr val="FFFFFF"/>
                </a:solidFill>
              </a:defRPr>
            </a:pPr>
            <a:r>
              <a:t>II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200400"/>
            <a:ext cx="11277295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</a:defRPr>
            </a:pPr>
            <a:r>
              <a:t>Four Key Findings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74320"/>
            <a:ext cx="9144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007816"/>
                </a:solidFill>
              </a:defRPr>
            </a:pPr>
            <a:r>
              <a:t>#1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320040"/>
            <a:ext cx="100584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03299"/>
                </a:solidFill>
              </a:defRPr>
            </a:pPr>
            <a:r>
              <a:t>France: The Pivot Between Core and Periphery</a:t>
            </a:r>
          </a:p>
        </p:txBody>
      </p:sp>
      <p:pic>
        <p:nvPicPr>
          <p:cNvPr id="4" name="Picture 3" descr="fig11_france_ro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03520" y="1097280"/>
            <a:ext cx="6583680" cy="51206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65760" y="1097280"/>
            <a:ext cx="457200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505050"/>
                </a:solidFill>
              </a:defRPr>
            </a:pPr>
            <a:r>
              <a:t>• France has overtaken Germany as the largest net transmitter since 2015</a:t>
            </a:r>
          </a:p>
          <a:p>
            <a:pPr>
              <a:spcAft>
                <a:spcPts val="800"/>
              </a:spcAft>
              <a:defRPr sz="1500">
                <a:solidFill>
                  <a:srgbClr val="505050"/>
                </a:solidFill>
              </a:defRPr>
            </a:pPr>
            <a:r>
              <a:t>• What does 'pivot' mean? France transmits shocks in BOTH directions:</a:t>
            </a:r>
          </a:p>
          <a:p>
            <a:pPr>
              <a:spcAft>
                <a:spcPts val="800"/>
              </a:spcAft>
              <a:defRPr sz="1500">
                <a:solidFill>
                  <a:srgbClr val="505050"/>
                </a:solidFill>
              </a:defRPr>
            </a:pPr>
            <a:r>
              <a:t>•   → To Germany (core): ~22% of German yield variance</a:t>
            </a:r>
          </a:p>
          <a:p>
            <a:pPr>
              <a:spcAft>
                <a:spcPts val="800"/>
              </a:spcAft>
              <a:defRPr sz="1500">
                <a:solidFill>
                  <a:srgbClr val="505050"/>
                </a:solidFill>
              </a:defRPr>
            </a:pPr>
            <a:r>
              <a:t>•   → To Italy/Spain (periphery): ~18% of their variance</a:t>
            </a:r>
          </a:p>
          <a:p>
            <a:pPr>
              <a:spcAft>
                <a:spcPts val="800"/>
              </a:spcAft>
              <a:defRPr sz="1500">
                <a:solidFill>
                  <a:srgbClr val="505050"/>
                </a:solidFill>
              </a:defRPr>
            </a:pPr>
            <a:r>
              <a:t>• This makes France the key link in the Euro Area yield system</a:t>
            </a:r>
          </a:p>
          <a:p>
            <a:pPr>
              <a:spcAft>
                <a:spcPts val="800"/>
              </a:spcAft>
              <a:defRPr sz="1500">
                <a:solidFill>
                  <a:srgbClr val="505050"/>
                </a:solidFill>
              </a:defRPr>
            </a:pPr>
            <a:r>
              <a:t>• When France moves, BOTH core and periphery follow</a:t>
            </a:r>
          </a:p>
          <a:p>
            <a:pPr>
              <a:spcAft>
                <a:spcPts val="800"/>
              </a:spcAft>
              <a:defRPr sz="1500">
                <a:solidFill>
                  <a:srgbClr val="505050"/>
                </a:solidFill>
              </a:defRPr>
            </a:pPr>
            <a:r>
              <a:t>• 2024 political crisis: FR-DE spread hit 87bp, but France</a:t>
            </a:r>
          </a:p>
          <a:p>
            <a:pPr>
              <a:spcAft>
                <a:spcPts val="800"/>
              </a:spcAft>
              <a:defRPr sz="1500">
                <a:solidFill>
                  <a:srgbClr val="505050"/>
                </a:solidFill>
              </a:defRPr>
            </a:pPr>
            <a:r>
              <a:t>• remained a net transmitter (average +29, always positive)</a:t>
            </a:r>
          </a:p>
          <a:p>
            <a:pPr>
              <a:spcAft>
                <a:spcPts val="800"/>
              </a:spcAft>
              <a:defRPr sz="1500">
                <a:solidFill>
                  <a:srgbClr val="505050"/>
                </a:solidFill>
              </a:defRPr>
            </a:pPr>
            <a:r>
              <a:t>• Key insight: ECB credibility contained contagion to periphery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74320"/>
            <a:ext cx="9144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007816"/>
                </a:solidFill>
              </a:defRPr>
            </a:pPr>
            <a:r>
              <a:t>#2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320040"/>
            <a:ext cx="100584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03299"/>
                </a:solidFill>
              </a:defRPr>
            </a:pPr>
            <a:r>
              <a:t>Spain is the Most Vulnerable Market</a:t>
            </a:r>
          </a:p>
        </p:txBody>
      </p:sp>
      <p:pic>
        <p:nvPicPr>
          <p:cNvPr id="4" name="Picture 3" descr="fig06_regime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03520" y="1097280"/>
            <a:ext cx="6583680" cy="51206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65760" y="1097280"/>
            <a:ext cx="457200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505050"/>
                </a:solidFill>
              </a:defRPr>
            </a:pPr>
            <a:r>
              <a:t>• Spain is the largest net receiver in the 7-country system</a:t>
            </a:r>
          </a:p>
          <a:p>
            <a:pPr>
              <a:spcAft>
                <a:spcPts val="800"/>
              </a:spcAft>
              <a:defRPr sz="1500">
                <a:solidFill>
                  <a:srgbClr val="505050"/>
                </a:solidFill>
              </a:defRPr>
            </a:pPr>
            <a:r>
              <a:t>• Net spillover position = -39 (receives far more than it transmits)</a:t>
            </a:r>
          </a:p>
          <a:p>
            <a:pPr>
              <a:spcAft>
                <a:spcPts val="800"/>
              </a:spcAft>
              <a:defRPr sz="1500">
                <a:solidFill>
                  <a:srgbClr val="505050"/>
                </a:solidFill>
              </a:defRPr>
            </a:pPr>
            <a:r>
              <a:t>• During tightening (2022+): Spain receives 83% of variance from others</a:t>
            </a:r>
          </a:p>
          <a:p>
            <a:pPr>
              <a:spcAft>
                <a:spcPts val="800"/>
              </a:spcAft>
              <a:defRPr sz="1500">
                <a:solidFill>
                  <a:srgbClr val="505050"/>
                </a:solidFill>
              </a:defRPr>
            </a:pPr>
            <a:r>
              <a:t>• More vulnerable than Italy (ES receives 67% vs IT receives 61%)</a:t>
            </a:r>
          </a:p>
          <a:p>
            <a:pPr>
              <a:spcAft>
                <a:spcPts val="800"/>
              </a:spcAft>
              <a:defRPr sz="1500">
                <a:solidFill>
                  <a:srgbClr val="505050"/>
                </a:solidFill>
              </a:defRPr>
            </a:pPr>
            <a:r>
              <a:t>• Spanish yields are 'price takers' - driven by EA-wide shocks</a:t>
            </a:r>
          </a:p>
          <a:p>
            <a:pPr>
              <a:spcAft>
                <a:spcPts val="800"/>
              </a:spcAft>
              <a:defRPr sz="1500">
                <a:solidFill>
                  <a:srgbClr val="505050"/>
                </a:solidFill>
              </a:defRPr>
            </a:pPr>
            <a:r>
              <a:t>• Policy implication: Spanish yields tell you about EA conditions,</a:t>
            </a:r>
          </a:p>
          <a:p>
            <a:pPr>
              <a:spcAft>
                <a:spcPts val="800"/>
              </a:spcAft>
              <a:defRPr sz="1500">
                <a:solidFill>
                  <a:srgbClr val="505050"/>
                </a:solidFill>
              </a:defRPr>
            </a:pPr>
            <a:r>
              <a:t>• but Spanish fiscal policy has limited impact on EA dynamics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74320"/>
            <a:ext cx="9144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007816"/>
                </a:solidFill>
              </a:defRPr>
            </a:pPr>
            <a:r>
              <a:t>#3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320040"/>
            <a:ext cx="100584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03299"/>
                </a:solidFill>
              </a:defRPr>
            </a:pPr>
            <a:r>
              <a:t>Euro Area Dynamics are Mostly Internal</a:t>
            </a:r>
          </a:p>
        </p:txBody>
      </p:sp>
      <p:pic>
        <p:nvPicPr>
          <p:cNvPr id="4" name="Picture 3" descr="fig03_external_vs_inter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03520" y="1097280"/>
            <a:ext cx="6583680" cy="51206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65760" y="1097280"/>
            <a:ext cx="457200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505050"/>
                </a:solidFill>
              </a:defRPr>
            </a:pPr>
            <a:r>
              <a:t>• Within-EA spillovers (~14%) consistently exceed external (~8%)</a:t>
            </a:r>
          </a:p>
          <a:p>
            <a:pPr>
              <a:spcAft>
                <a:spcPts val="800"/>
              </a:spcAft>
              <a:defRPr sz="1500">
                <a:solidFill>
                  <a:srgbClr val="505050"/>
                </a:solidFill>
              </a:defRPr>
            </a:pPr>
            <a:r>
              <a:t>• Ratio: Internal ≈ 1.7x External on average</a:t>
            </a:r>
          </a:p>
          <a:p>
            <a:pPr>
              <a:spcAft>
                <a:spcPts val="800"/>
              </a:spcAft>
              <a:defRPr sz="1500">
                <a:solidFill>
                  <a:srgbClr val="505050"/>
                </a:solidFill>
              </a:defRPr>
            </a:pPr>
            <a:r>
              <a:t>• US influence peaks during Fed pivots (15% during 2022-23 hiking)</a:t>
            </a:r>
          </a:p>
          <a:p>
            <a:pPr>
              <a:spcAft>
                <a:spcPts val="800"/>
              </a:spcAft>
              <a:defRPr sz="1500">
                <a:solidFill>
                  <a:srgbClr val="505050"/>
                </a:solidFill>
              </a:defRPr>
            </a:pPr>
            <a:r>
              <a:t>• But even at peak, US influence &lt; intra-EA transmission</a:t>
            </a:r>
          </a:p>
          <a:p>
            <a:pPr>
              <a:spcAft>
                <a:spcPts val="800"/>
              </a:spcAft>
              <a:defRPr sz="1500">
                <a:solidFill>
                  <a:srgbClr val="505050"/>
                </a:solidFill>
              </a:defRPr>
            </a:pPr>
            <a:r>
              <a:t>• UK influence declined post-Brexit (-12%)</a:t>
            </a:r>
          </a:p>
          <a:p>
            <a:pPr>
              <a:spcAft>
                <a:spcPts val="800"/>
              </a:spcAft>
              <a:defRPr sz="1500">
                <a:solidFill>
                  <a:srgbClr val="505050"/>
                </a:solidFill>
              </a:defRPr>
            </a:pPr>
            <a:r>
              <a:t>• Implication: ECB policy is the primary driver of EA yield dynamics</a:t>
            </a:r>
          </a:p>
          <a:p>
            <a:pPr>
              <a:spcAft>
                <a:spcPts val="800"/>
              </a:spcAft>
              <a:defRPr sz="1500">
                <a:solidFill>
                  <a:srgbClr val="505050"/>
                </a:solidFill>
              </a:defRPr>
            </a:pPr>
            <a:r>
              <a:t>• External shocks matter, but the EA is largely self-referential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74320"/>
            <a:ext cx="9144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007816"/>
                </a:solidFill>
              </a:defRPr>
            </a:pPr>
            <a:r>
              <a:t>#4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320040"/>
            <a:ext cx="100584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03299"/>
                </a:solidFill>
              </a:defRPr>
            </a:pPr>
            <a:r>
              <a:t>Japan: The Decoupling After Yield Curve Control</a:t>
            </a:r>
          </a:p>
        </p:txBody>
      </p:sp>
      <p:pic>
        <p:nvPicPr>
          <p:cNvPr id="4" name="Picture 3" descr="fig04_external_breakdow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03520" y="1097280"/>
            <a:ext cx="6583680" cy="51206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65760" y="1097280"/>
            <a:ext cx="457200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505050"/>
                </a:solidFill>
              </a:defRPr>
            </a:pPr>
            <a:r>
              <a:t>• Background: Bank of Japan's Yield Curve Control (2016-2024)</a:t>
            </a:r>
          </a:p>
          <a:p>
            <a:pPr>
              <a:spcAft>
                <a:spcPts val="800"/>
              </a:spcAft>
              <a:defRPr sz="1500">
                <a:solidFill>
                  <a:srgbClr val="505050"/>
                </a:solidFill>
              </a:defRPr>
            </a:pPr>
            <a:r>
              <a:t>•   - Capped 10-year yields near 0% for 8 years</a:t>
            </a:r>
          </a:p>
          <a:p>
            <a:pPr>
              <a:spcAft>
                <a:spcPts val="800"/>
              </a:spcAft>
              <a:defRPr sz="1500">
                <a:solidFill>
                  <a:srgbClr val="505050"/>
                </a:solidFill>
              </a:defRPr>
            </a:pPr>
            <a:r>
              <a:t>•   - Ended negative interest rates in March 2024</a:t>
            </a:r>
          </a:p>
          <a:p>
            <a:pPr>
              <a:spcAft>
                <a:spcPts val="800"/>
              </a:spcAft>
              <a:defRPr sz="1500">
                <a:solidFill>
                  <a:srgbClr val="505050"/>
                </a:solidFill>
              </a:defRPr>
            </a:pPr>
            <a:r>
              <a:t>• Japanese yields: 0.10% (during controls) → 1.25% (after exit)</a:t>
            </a:r>
          </a:p>
          <a:p>
            <a:pPr>
              <a:spcAft>
                <a:spcPts val="800"/>
              </a:spcAft>
              <a:defRPr sz="1500">
                <a:solidFill>
                  <a:srgbClr val="505050"/>
                </a:solidFill>
              </a:defRPr>
            </a:pPr>
            <a:r>
              <a:t>• First real Japanese yield steepening in 30 years</a:t>
            </a:r>
          </a:p>
          <a:p>
            <a:pPr>
              <a:spcAft>
                <a:spcPts val="800"/>
              </a:spcAft>
              <a:defRPr sz="1500">
                <a:solidFill>
                  <a:srgbClr val="505050"/>
                </a:solidFill>
              </a:defRPr>
            </a:pPr>
            <a:r>
              <a:t>• PARADOX: Higher Japanese yields = LESS spillover to EA</a:t>
            </a:r>
          </a:p>
          <a:p>
            <a:pPr>
              <a:spcAft>
                <a:spcPts val="800"/>
              </a:spcAft>
              <a:defRPr sz="1500">
                <a:solidFill>
                  <a:srgbClr val="505050"/>
                </a:solidFill>
              </a:defRPr>
            </a:pPr>
            <a:r>
              <a:t>• Japan→EA spillover fell from 3.7% to 1.2% after policy exit</a:t>
            </a:r>
          </a:p>
          <a:p>
            <a:pPr>
              <a:spcAft>
                <a:spcPts val="800"/>
              </a:spcAft>
              <a:defRPr sz="1500">
                <a:solidFill>
                  <a:srgbClr val="505050"/>
                </a:solidFill>
              </a:defRPr>
            </a:pPr>
            <a:r>
              <a:t>• Interpretation: Yield controls forced Japan to track global rates</a:t>
            </a:r>
          </a:p>
          <a:p>
            <a:pPr>
              <a:spcAft>
                <a:spcPts val="800"/>
              </a:spcAft>
              <a:defRPr sz="1500">
                <a:solidFill>
                  <a:srgbClr val="505050"/>
                </a:solidFill>
              </a:defRPr>
            </a:pPr>
            <a:r>
              <a:t>• Once freed, Japanese bonds now move independently</a:t>
            </a:r>
          </a:p>
          <a:p>
            <a:pPr>
              <a:spcAft>
                <a:spcPts val="800"/>
              </a:spcAft>
              <a:defRPr sz="1500">
                <a:solidFill>
                  <a:srgbClr val="505050"/>
                </a:solidFill>
              </a:defRPr>
            </a:pPr>
            <a:r>
              <a:t>• For EA policymakers: One less external transmission channel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32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0"/>
            <a:ext cx="1127729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7200" b="1">
                <a:solidFill>
                  <a:srgbClr val="FFFFFF"/>
                </a:solidFill>
              </a:defRPr>
            </a:pPr>
            <a:r>
              <a:t>III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200400"/>
            <a:ext cx="11277295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</a:defRPr>
            </a:pPr>
            <a:r>
              <a:t>Current Risk Assessment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74320"/>
            <a:ext cx="11430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003299"/>
                </a:solidFill>
              </a:defRPr>
            </a:pPr>
            <a:r>
              <a:t>French Political Risk: Contained but Elevated</a:t>
            </a:r>
          </a:p>
        </p:txBody>
      </p:sp>
      <p:pic>
        <p:nvPicPr>
          <p:cNvPr id="3" name="Picture 2" descr="fig11_france_ro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03520" y="1097280"/>
            <a:ext cx="6583680" cy="53035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365760" y="1097280"/>
            <a:ext cx="475488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505050"/>
                </a:solidFill>
              </a:defRPr>
            </a:pPr>
            <a:r>
              <a:t>• FR-DE spread widened from 50bp to 87bp during 2024 turmoil</a:t>
            </a:r>
          </a:p>
          <a:p>
            <a:pPr>
              <a:spcAft>
                <a:spcPts val="1000"/>
              </a:spcAft>
              <a:defRPr sz="1600">
                <a:solidFill>
                  <a:srgbClr val="505050"/>
                </a:solidFill>
              </a:defRPr>
            </a:pPr>
            <a:r>
              <a:t>• Peak spread on December 2, 2024 after Barnier government fell</a:t>
            </a:r>
          </a:p>
          <a:p>
            <a:pPr>
              <a:spcAft>
                <a:spcPts val="1000"/>
              </a:spcAft>
              <a:defRPr sz="1600">
                <a:solidFill>
                  <a:srgbClr val="505050"/>
                </a:solidFill>
              </a:defRPr>
            </a:pPr>
            <a:r>
              <a:t>• Critical finding: France REMAINED a net transmitter throughout</a:t>
            </a:r>
          </a:p>
          <a:p>
            <a:pPr>
              <a:spcAft>
                <a:spcPts val="1000"/>
              </a:spcAft>
              <a:defRPr sz="1600">
                <a:solidFill>
                  <a:srgbClr val="505050"/>
                </a:solidFill>
              </a:defRPr>
            </a:pPr>
            <a:r>
              <a:t>•   - Pre-crisis average: +36 (strong transmitter)</a:t>
            </a:r>
          </a:p>
          <a:p>
            <a:pPr>
              <a:spcAft>
                <a:spcPts val="1000"/>
              </a:spcAft>
              <a:defRPr sz="1600">
                <a:solidFill>
                  <a:srgbClr val="505050"/>
                </a:solidFill>
              </a:defRPr>
            </a:pPr>
            <a:r>
              <a:t>•   - Post-crisis average: +29 (still positive)</a:t>
            </a:r>
          </a:p>
          <a:p>
            <a:pPr>
              <a:spcAft>
                <a:spcPts val="1000"/>
              </a:spcAft>
              <a:defRPr sz="1600">
                <a:solidFill>
                  <a:srgbClr val="505050"/>
                </a:solidFill>
              </a:defRPr>
            </a:pPr>
            <a:r>
              <a:t>• Contagion to periphery was LIMITED:</a:t>
            </a:r>
          </a:p>
          <a:p>
            <a:pPr>
              <a:spcAft>
                <a:spcPts val="1000"/>
              </a:spcAft>
              <a:defRPr sz="1600">
                <a:solidFill>
                  <a:srgbClr val="505050"/>
                </a:solidFill>
              </a:defRPr>
            </a:pPr>
            <a:r>
              <a:t>•   - France→Italy spillover: stable at 21-22%</a:t>
            </a:r>
          </a:p>
          <a:p>
            <a:pPr>
              <a:spcAft>
                <a:spcPts val="1000"/>
              </a:spcAft>
              <a:defRPr sz="1600">
                <a:solidFill>
                  <a:srgbClr val="505050"/>
                </a:solidFill>
              </a:defRPr>
            </a:pPr>
            <a:r>
              <a:t>•   - France→Spain spillover: stable at 18-19%</a:t>
            </a:r>
          </a:p>
          <a:p>
            <a:pPr>
              <a:spcAft>
                <a:spcPts val="1000"/>
              </a:spcAft>
              <a:defRPr sz="1600">
                <a:solidFill>
                  <a:srgbClr val="505050"/>
                </a:solidFill>
              </a:defRPr>
            </a:pPr>
            <a:r>
              <a:t>• ECB's Transmission Protection Instrument appears credible</a:t>
            </a:r>
          </a:p>
          <a:p>
            <a:pPr>
              <a:spcAft>
                <a:spcPts val="1000"/>
              </a:spcAft>
              <a:defRPr sz="1600">
                <a:solidFill>
                  <a:srgbClr val="505050"/>
                </a:solidFill>
              </a:defRPr>
            </a:pPr>
            <a:r>
              <a:t>• But: Elevated spreads suggest underlying fragility remains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003299"/>
                </a:solidFill>
              </a:defRPr>
            </a:pPr>
            <a:r>
              <a:t>Who Affects Whom: The Bilateral Picture</a:t>
            </a:r>
          </a:p>
        </p:txBody>
      </p:sp>
      <p:pic>
        <p:nvPicPr>
          <p:cNvPr id="3" name="Picture 2" descr="fig08_bilateral_heatmap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868680"/>
            <a:ext cx="11612880" cy="53949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365760" y="6355080"/>
            <a:ext cx="11430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i="1">
                <a:solidFill>
                  <a:srgbClr val="505050"/>
                </a:solidFill>
              </a:defRPr>
            </a:pPr>
            <a:r>
              <a:t>Note regime shifts: IT-ES contagion in Euro Crisis (25%), uniform flows in Tightening (15-23%)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32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0"/>
            <a:ext cx="1127729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7200" b="1">
                <a:solidFill>
                  <a:srgbClr val="FFFFFF"/>
                </a:solidFill>
              </a:defRPr>
            </a:pPr>
            <a:r>
              <a:t>IV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200400"/>
            <a:ext cx="11277295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</a:defRPr>
            </a:pPr>
            <a:r>
              <a:t>Policy Implications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74320"/>
            <a:ext cx="11430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003299"/>
                </a:solidFill>
              </a:defRPr>
            </a:pPr>
            <a:r>
              <a:t>Implications for Policymakers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1097280"/>
            <a:ext cx="1143000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505050"/>
                </a:solidFill>
              </a:defRPr>
            </a:pPr>
            <a:r>
              <a:t>• MONETARY POLICY</a:t>
            </a:r>
          </a:p>
          <a:p>
            <a:pPr>
              <a:spcAft>
                <a:spcPts val="1000"/>
              </a:spcAft>
              <a:defRPr sz="1600">
                <a:solidFill>
                  <a:srgbClr val="505050"/>
                </a:solidFill>
              </a:defRPr>
            </a:pPr>
            <a:r>
              <a:t>•   - EA yields driven more by internal than external factors</a:t>
            </a:r>
          </a:p>
          <a:p>
            <a:pPr>
              <a:spcAft>
                <a:spcPts val="1000"/>
              </a:spcAft>
              <a:defRPr sz="1600">
                <a:solidFill>
                  <a:srgbClr val="505050"/>
                </a:solidFill>
              </a:defRPr>
            </a:pPr>
            <a:r>
              <a:t>•   - ECB is the primary driver of EA-wide yield dynamics</a:t>
            </a:r>
          </a:p>
          <a:p>
            <a:pPr>
              <a:spcAft>
                <a:spcPts val="1000"/>
              </a:spcAft>
              <a:defRPr sz="1600">
                <a:solidFill>
                  <a:srgbClr val="505050"/>
                </a:solidFill>
              </a:defRPr>
            </a:pPr>
            <a:r>
              <a:t>•   - Transmission Protection Instrument appears effective (French test)</a:t>
            </a:r>
          </a:p>
          <a:p>
            <a:pPr>
              <a:spcAft>
                <a:spcPts val="1000"/>
              </a:spcAft>
              <a:defRPr sz="1600">
                <a:solidFill>
                  <a:srgbClr val="505050"/>
                </a:solidFill>
              </a:defRPr>
            </a:pPr>
            <a:r>
              <a:t>• </a:t>
            </a:r>
          </a:p>
          <a:p>
            <a:pPr>
              <a:spcAft>
                <a:spcPts val="1000"/>
              </a:spcAft>
              <a:defRPr sz="1600">
                <a:solidFill>
                  <a:srgbClr val="505050"/>
                </a:solidFill>
              </a:defRPr>
            </a:pPr>
            <a:r>
              <a:t>• FISCAL COORDINATION</a:t>
            </a:r>
          </a:p>
          <a:p>
            <a:pPr>
              <a:spcAft>
                <a:spcPts val="1000"/>
              </a:spcAft>
              <a:defRPr sz="1600">
                <a:solidFill>
                  <a:srgbClr val="505050"/>
                </a:solidFill>
              </a:defRPr>
            </a:pPr>
            <a:r>
              <a:t>•   - Periphery remains structurally vulnerable (price takers)</a:t>
            </a:r>
          </a:p>
          <a:p>
            <a:pPr>
              <a:spcAft>
                <a:spcPts val="1000"/>
              </a:spcAft>
              <a:defRPr sz="1600">
                <a:solidFill>
                  <a:srgbClr val="505050"/>
                </a:solidFill>
              </a:defRPr>
            </a:pPr>
            <a:r>
              <a:t>•   - Spain most sensitive to EA-wide shocks</a:t>
            </a:r>
          </a:p>
          <a:p>
            <a:pPr>
              <a:spcAft>
                <a:spcPts val="1000"/>
              </a:spcAft>
              <a:defRPr sz="1600">
                <a:solidFill>
                  <a:srgbClr val="505050"/>
                </a:solidFill>
              </a:defRPr>
            </a:pPr>
            <a:r>
              <a:t>•   - French fiscal credibility now a systemic concern</a:t>
            </a:r>
          </a:p>
          <a:p>
            <a:pPr>
              <a:spcAft>
                <a:spcPts val="1000"/>
              </a:spcAft>
              <a:defRPr sz="1600">
                <a:solidFill>
                  <a:srgbClr val="505050"/>
                </a:solidFill>
              </a:defRPr>
            </a:pPr>
            <a:r>
              <a:t>• </a:t>
            </a:r>
          </a:p>
          <a:p>
            <a:pPr>
              <a:spcAft>
                <a:spcPts val="1000"/>
              </a:spcAft>
              <a:defRPr sz="1600">
                <a:solidFill>
                  <a:srgbClr val="505050"/>
                </a:solidFill>
              </a:defRPr>
            </a:pPr>
            <a:r>
              <a:t>• CRISIS PREPAREDNESS</a:t>
            </a:r>
          </a:p>
          <a:p>
            <a:pPr>
              <a:spcAft>
                <a:spcPts val="1000"/>
              </a:spcAft>
              <a:defRPr sz="1600">
                <a:solidFill>
                  <a:srgbClr val="505050"/>
                </a:solidFill>
              </a:defRPr>
            </a:pPr>
            <a:r>
              <a:t>•   - Integration falls during idiosyncratic crises</a:t>
            </a:r>
          </a:p>
          <a:p>
            <a:pPr>
              <a:spcAft>
                <a:spcPts val="1000"/>
              </a:spcAft>
              <a:defRPr sz="1600">
                <a:solidFill>
                  <a:srgbClr val="505050"/>
                </a:solidFill>
              </a:defRPr>
            </a:pPr>
            <a:r>
              <a:t>•   - Current high spillovers = vulnerability to common shocks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74320"/>
            <a:ext cx="11430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003299"/>
                </a:solidFill>
              </a:defRPr>
            </a:pPr>
            <a:r>
              <a:t>Open Questions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1097280"/>
            <a:ext cx="1143000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505050"/>
                </a:solidFill>
              </a:defRPr>
            </a:pPr>
            <a:r>
              <a:t>• Will France remain the pivot despite political fragmentation?</a:t>
            </a:r>
          </a:p>
          <a:p>
            <a:pPr>
              <a:spcAft>
                <a:spcPts val="1000"/>
              </a:spcAft>
              <a:defRPr sz="1600">
                <a:solidFill>
                  <a:srgbClr val="505050"/>
                </a:solidFill>
              </a:defRPr>
            </a:pPr>
            <a:r>
              <a:t>• How will ECB rate cuts affect the spillover structure?</a:t>
            </a:r>
          </a:p>
          <a:p>
            <a:pPr>
              <a:spcAft>
                <a:spcPts val="1000"/>
              </a:spcAft>
              <a:defRPr sz="1600">
                <a:solidFill>
                  <a:srgbClr val="505050"/>
                </a:solidFill>
              </a:defRPr>
            </a:pPr>
            <a:r>
              <a:t>• Is Spain's vulnerability structural or cyclical?</a:t>
            </a:r>
          </a:p>
          <a:p>
            <a:pPr>
              <a:spcAft>
                <a:spcPts val="1000"/>
              </a:spcAft>
              <a:defRPr sz="1600">
                <a:solidFill>
                  <a:srgbClr val="505050"/>
                </a:solidFill>
              </a:defRPr>
            </a:pPr>
            <a:r>
              <a:t>• What happens when the next idiosyncratic shock hits?</a:t>
            </a:r>
          </a:p>
          <a:p>
            <a:pPr>
              <a:spcAft>
                <a:spcPts val="1000"/>
              </a:spcAft>
              <a:defRPr sz="1600">
                <a:solidFill>
                  <a:srgbClr val="505050"/>
                </a:solidFill>
              </a:defRPr>
            </a:pPr>
            <a:r>
              <a:t>• Is the Transmission Protection Instrument enough, or does the</a:t>
            </a:r>
          </a:p>
          <a:p>
            <a:pPr>
              <a:spcAft>
                <a:spcPts val="1000"/>
              </a:spcAft>
              <a:defRPr sz="1600">
                <a:solidFill>
                  <a:srgbClr val="505050"/>
                </a:solidFill>
              </a:defRPr>
            </a:pPr>
            <a:r>
              <a:t>• Euro Area need deeper fiscal integration?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0"/>
          </a:xfrm>
          <a:prstGeom prst="rect">
            <a:avLst/>
          </a:prstGeom>
          <a:solidFill>
            <a:srgbClr val="0032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011680"/>
            <a:ext cx="11277295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400" b="1">
                <a:solidFill>
                  <a:srgbClr val="003299"/>
                </a:solidFill>
              </a:defRPr>
            </a:pPr>
            <a:r>
              <a:t>Thank You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657600"/>
            <a:ext cx="11277295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200">
                <a:solidFill>
                  <a:srgbClr val="505050"/>
                </a:solidFill>
              </a:defRPr>
            </a:pPr>
            <a:r>
              <a:t>Methodology: Diebold-Yilmaz Generalised Variance Decomposition</a:t>
            </a:r>
            <a:br/>
            <a:br/>
            <a:r>
              <a:t>Data: Daily 10-year yields, 1995-2025</a:t>
            </a:r>
            <a:br/>
            <a:r>
              <a:t>Countries: US, Japan, UK, Germany, France, Italy, Spain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